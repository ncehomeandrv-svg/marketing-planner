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2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3.xml" ContentType="application/vnd.openxmlformats-officedocument.presentationml.notes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6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66" r:id="rId5"/>
    <p:sldId id="267" r:id="rId6"/>
    <p:sldId id="268" r:id="rId7"/>
    <p:sldId id="269" r:id="rId8"/>
    <p:sldId id="270" r:id="rId9"/>
    <p:sldId id="275" r:id="rId10"/>
    <p:sldId id="273" r:id="rId11"/>
    <p:sldId id="274" r:id="rId12"/>
    <p:sldId id="271" r:id="rId13"/>
    <p:sldId id="272" r:id="rId14"/>
    <p:sldId id="265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7590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y27/logo_whit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02920"/>
            <a:ext cx="14630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FY27 Marketing Strategy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54864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Sales &amp; Marketing  |  Marketing Manager</a:t>
            </a:r>
            <a:endParaRPr lang="en-US" sz="1200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5282516-35C3-65BB-D996-55B732F70992}"/>
              </a:ext>
            </a:extLst>
          </p:cNvPr>
          <p:cNvGrpSpPr/>
          <p:nvPr/>
        </p:nvGrpSpPr>
        <p:grpSpPr>
          <a:xfrm>
            <a:off x="1778508" y="3844448"/>
            <a:ext cx="8513064" cy="996696"/>
            <a:chOff x="457200" y="1691640"/>
            <a:chExt cx="8513064" cy="996696"/>
          </a:xfrm>
        </p:grpSpPr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D94E13E9-C1D0-EF6A-56B0-10759161E533}"/>
                </a:ext>
              </a:extLst>
            </p:cNvPr>
            <p:cNvSpPr/>
            <p:nvPr/>
          </p:nvSpPr>
          <p:spPr>
            <a:xfrm>
              <a:off x="1645920" y="1691640"/>
              <a:ext cx="5852160" cy="18288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0" name="Text 2">
              <a:extLst>
                <a:ext uri="{FF2B5EF4-FFF2-40B4-BE49-F238E27FC236}">
                  <a16:creationId xmlns:a16="http://schemas.microsoft.com/office/drawing/2014/main" id="{35734A84-D844-3699-618A-8734D6894BBE}"/>
                </a:ext>
              </a:extLst>
            </p:cNvPr>
            <p:cNvSpPr/>
            <p:nvPr/>
          </p:nvSpPr>
          <p:spPr>
            <a:xfrm>
              <a:off x="457200" y="1847088"/>
              <a:ext cx="256032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200" b="1" dirty="0">
                  <a:solidFill>
                    <a:srgbClr val="444444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REVIEW</a:t>
              </a:r>
              <a:endParaRPr lang="en-US" sz="5200" dirty="0"/>
            </a:p>
          </p:txBody>
        </p:sp>
        <p:sp>
          <p:nvSpPr>
            <p:cNvPr id="11" name="Shape 3">
              <a:extLst>
                <a:ext uri="{FF2B5EF4-FFF2-40B4-BE49-F238E27FC236}">
                  <a16:creationId xmlns:a16="http://schemas.microsoft.com/office/drawing/2014/main" id="{FD18E7DE-DFF0-F0CE-A563-9DB415965B94}"/>
                </a:ext>
              </a:extLst>
            </p:cNvPr>
            <p:cNvSpPr/>
            <p:nvPr/>
          </p:nvSpPr>
          <p:spPr>
            <a:xfrm>
              <a:off x="3255264" y="2258568"/>
              <a:ext cx="109728" cy="109728"/>
            </a:xfrm>
            <a:prstGeom prst="ellipse">
              <a:avLst/>
            </a:prstGeom>
            <a:solidFill>
              <a:srgbClr val="555555"/>
            </a:solidFill>
            <a:ln w="12700">
              <a:solidFill>
                <a:srgbClr val="555555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2" name="Text 4">
              <a:extLst>
                <a:ext uri="{FF2B5EF4-FFF2-40B4-BE49-F238E27FC236}">
                  <a16:creationId xmlns:a16="http://schemas.microsoft.com/office/drawing/2014/main" id="{7D6976EB-015D-89BA-7581-BD92B3F820DA}"/>
                </a:ext>
              </a:extLst>
            </p:cNvPr>
            <p:cNvSpPr/>
            <p:nvPr/>
          </p:nvSpPr>
          <p:spPr>
            <a:xfrm>
              <a:off x="3200400" y="1847088"/>
              <a:ext cx="2743200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2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RESET</a:t>
              </a:r>
              <a:endParaRPr lang="en-US" sz="5200" dirty="0"/>
            </a:p>
          </p:txBody>
        </p:sp>
        <p:sp>
          <p:nvSpPr>
            <p:cNvPr id="13" name="Shape 5">
              <a:extLst>
                <a:ext uri="{FF2B5EF4-FFF2-40B4-BE49-F238E27FC236}">
                  <a16:creationId xmlns:a16="http://schemas.microsoft.com/office/drawing/2014/main" id="{E88BF3DE-2A95-9D4F-55B8-551C4D7B17B5}"/>
                </a:ext>
              </a:extLst>
            </p:cNvPr>
            <p:cNvSpPr/>
            <p:nvPr/>
          </p:nvSpPr>
          <p:spPr>
            <a:xfrm>
              <a:off x="5943600" y="2221647"/>
              <a:ext cx="109728" cy="109728"/>
            </a:xfrm>
            <a:prstGeom prst="ellipse">
              <a:avLst/>
            </a:prstGeom>
            <a:solidFill>
              <a:srgbClr val="D42027"/>
            </a:solidFill>
            <a:ln w="12700">
              <a:solidFill>
                <a:srgbClr val="D42027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  <p:sp>
          <p:nvSpPr>
            <p:cNvPr id="14" name="Text 6">
              <a:extLst>
                <a:ext uri="{FF2B5EF4-FFF2-40B4-BE49-F238E27FC236}">
                  <a16:creationId xmlns:a16="http://schemas.microsoft.com/office/drawing/2014/main" id="{06B1A916-97E3-D979-55D5-A6FA09B9C95B}"/>
                </a:ext>
              </a:extLst>
            </p:cNvPr>
            <p:cNvSpPr/>
            <p:nvPr/>
          </p:nvSpPr>
          <p:spPr>
            <a:xfrm>
              <a:off x="6391656" y="1847088"/>
              <a:ext cx="2578608" cy="822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5200" b="1" dirty="0">
                  <a:solidFill>
                    <a:srgbClr val="D4202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REBUILD</a:t>
              </a:r>
              <a:endParaRPr lang="en-US" sz="5200" dirty="0"/>
            </a:p>
          </p:txBody>
        </p:sp>
        <p:sp>
          <p:nvSpPr>
            <p:cNvPr id="15" name="Shape 7">
              <a:extLst>
                <a:ext uri="{FF2B5EF4-FFF2-40B4-BE49-F238E27FC236}">
                  <a16:creationId xmlns:a16="http://schemas.microsoft.com/office/drawing/2014/main" id="{50DD08C0-DA2A-CBC4-F5F9-5EFE4ADCFE33}"/>
                </a:ext>
              </a:extLst>
            </p:cNvPr>
            <p:cNvSpPr/>
            <p:nvPr/>
          </p:nvSpPr>
          <p:spPr>
            <a:xfrm>
              <a:off x="1645920" y="2670048"/>
              <a:ext cx="5852160" cy="18288"/>
            </a:xfrm>
            <a:prstGeom prst="rect">
              <a:avLst/>
            </a:prstGeom>
            <a:solidFill>
              <a:srgbClr val="333333"/>
            </a:solidFill>
            <a:ln w="12700">
              <a:solidFill>
                <a:srgbClr val="333333"/>
              </a:solidFill>
              <a:prstDash val="solid"/>
            </a:ln>
          </p:spPr>
          <p:txBody>
            <a:bodyPr/>
            <a:lstStyle/>
            <a:p>
              <a:endParaRPr lang="en-AU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AGENDA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Today's Session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2011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17320" y="20116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Where Are We Now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Brand, website &amp; FY26 state of play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39535" y="96012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05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154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71600" y="4299456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Growth — Audience &amp; Content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Segments, pillars, cadence, alignment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39535" y="1945904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06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26186" y="54406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Growth — Operating Model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agency, workflow, accountability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208215" y="965225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Non-Negotiables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handful we commit to, no exceptions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39535" y="3112734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07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162495" y="194590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Ways of Working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and ownership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162495" y="5315505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FY27 Budget Framing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Non-negotiables funded first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0C781E3C-D67D-8270-ACFF-571F56346D52}"/>
              </a:ext>
            </a:extLst>
          </p:cNvPr>
          <p:cNvSpPr/>
          <p:nvPr/>
        </p:nvSpPr>
        <p:spPr>
          <a:xfrm>
            <a:off x="6339535" y="4237888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08</a:t>
            </a:r>
            <a:endParaRPr lang="en-US" sz="2400" dirty="0"/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69441281-497C-22EA-E74B-0D36E0147BB4}"/>
              </a:ext>
            </a:extLst>
          </p:cNvPr>
          <p:cNvSpPr/>
          <p:nvPr/>
        </p:nvSpPr>
        <p:spPr>
          <a:xfrm>
            <a:off x="7162495" y="3112734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Continuity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NNs through leave</a:t>
            </a:r>
            <a:endParaRPr lang="en-US" sz="1600" dirty="0"/>
          </a:p>
        </p:txBody>
      </p:sp>
      <p:sp>
        <p:nvSpPr>
          <p:cNvPr id="25" name="Text 12">
            <a:extLst>
              <a:ext uri="{FF2B5EF4-FFF2-40B4-BE49-F238E27FC236}">
                <a16:creationId xmlns:a16="http://schemas.microsoft.com/office/drawing/2014/main" id="{15154242-4FED-FEC0-D413-E59B083C721F}"/>
              </a:ext>
            </a:extLst>
          </p:cNvPr>
          <p:cNvSpPr/>
          <p:nvPr/>
        </p:nvSpPr>
        <p:spPr>
          <a:xfrm>
            <a:off x="6339535" y="5321366"/>
            <a:ext cx="822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09</a:t>
            </a:r>
            <a:endParaRPr lang="en-US" sz="2400" dirty="0"/>
          </a:p>
        </p:txBody>
      </p:sp>
      <p:sp>
        <p:nvSpPr>
          <p:cNvPr id="27" name="Text 13">
            <a:extLst>
              <a:ext uri="{FF2B5EF4-FFF2-40B4-BE49-F238E27FC236}">
                <a16:creationId xmlns:a16="http://schemas.microsoft.com/office/drawing/2014/main" id="{FAB61B73-AFC0-8629-E57C-84C35678BDAD}"/>
              </a:ext>
            </a:extLst>
          </p:cNvPr>
          <p:cNvSpPr/>
          <p:nvPr/>
        </p:nvSpPr>
        <p:spPr>
          <a:xfrm>
            <a:off x="7162495" y="424153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Phase 2 / Over-and-Above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ideas, parked for now</a:t>
            </a:r>
            <a:endParaRPr lang="en-US" sz="1600" dirty="0"/>
          </a:p>
        </p:txBody>
      </p:sp>
      <p:sp>
        <p:nvSpPr>
          <p:cNvPr id="29" name="Text 5">
            <a:extLst>
              <a:ext uri="{FF2B5EF4-FFF2-40B4-BE49-F238E27FC236}">
                <a16:creationId xmlns:a16="http://schemas.microsoft.com/office/drawing/2014/main" id="{BFBB4504-9840-859A-A763-512D67394C67}"/>
              </a:ext>
            </a:extLst>
          </p:cNvPr>
          <p:cNvSpPr/>
          <p:nvPr/>
        </p:nvSpPr>
        <p:spPr>
          <a:xfrm>
            <a:off x="1371600" y="3154680"/>
            <a:ext cx="4526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What Worked / What Didn't</a:t>
            </a:r>
            <a:endParaRPr lang="en-US" sz="1600" dirty="0"/>
          </a:p>
          <a:p>
            <a:pPr marL="0" indent="0">
              <a:buNone/>
            </a:pPr>
            <a:r>
              <a:rPr lang="en-US" sz="11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base for FY27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200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Where Are We Now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consolidation and the new website — the honest state of play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E1E1E"/>
          </a:solidFill>
          <a:ln/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6" name="Text 4"/>
          <p:cNvSpPr/>
          <p:nvPr/>
        </p:nvSpPr>
        <p:spPr>
          <a:xfrm>
            <a:off x="777240" y="2084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What's live vs. still pending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4871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site (nce.com.au) is live; B2B trade portal still pending — what else is live vs outstanding across channels?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still mid-rollout or outstanding?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63640" y="1920240"/>
            <a:ext cx="5486400" cy="2011680"/>
          </a:xfrm>
          <a:prstGeom prst="roundRect">
            <a:avLst>
              <a:gd name="adj" fmla="val 2727"/>
            </a:avLst>
          </a:prstGeom>
          <a:solidFill>
            <a:srgbClr val="1E1E1E"/>
          </a:solidFill>
          <a:ln/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9" name="Text 7"/>
          <p:cNvSpPr/>
          <p:nvPr/>
        </p:nvSpPr>
        <p:spPr>
          <a:xfrm>
            <a:off x="6492240" y="20848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Re-confirm what NCE stands for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92240" y="2487168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new identity still match the tone and messaging we use day to day?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drift between brand guidelines and current execution?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114800"/>
            <a:ext cx="5486400" cy="2240280"/>
          </a:xfrm>
          <a:prstGeom prst="roundRect">
            <a:avLst>
              <a:gd name="adj" fmla="val 2449"/>
            </a:avLst>
          </a:prstGeom>
          <a:solidFill>
            <a:srgbClr val="1E1E1E"/>
          </a:solidFill>
          <a:ln/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2" name="Text 10"/>
          <p:cNvSpPr/>
          <p:nvPr/>
        </p:nvSpPr>
        <p:spPr>
          <a:xfrm>
            <a:off x="777240" y="4279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Channel consistency check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77240" y="4681728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every active channel — social, EDM, website, trade — reflect the new brand consistently?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the biggest gaps?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4114800"/>
            <a:ext cx="5486400" cy="2240280"/>
          </a:xfrm>
          <a:prstGeom prst="roundRect">
            <a:avLst>
              <a:gd name="adj" fmla="val 2449"/>
            </a:avLst>
          </a:prstGeom>
          <a:solidFill>
            <a:srgbClr val="1E1E1E"/>
          </a:solidFill>
          <a:ln/>
          <a:effectLst>
            <a:outerShdw blurRad="50800" dist="254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AU"/>
          </a:p>
        </p:txBody>
      </p:sp>
      <p:sp>
        <p:nvSpPr>
          <p:cNvPr id="15" name="Text 13"/>
          <p:cNvSpPr/>
          <p:nvPr/>
        </p:nvSpPr>
        <p:spPr>
          <a:xfrm>
            <a:off x="6492240" y="42793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Brand asset audit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492240" y="4681728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assets do we have — templates, photography, tone guides?</a:t>
            </a:r>
            <a:endParaRPr lang="en-US" sz="1200" dirty="0"/>
          </a:p>
          <a:p>
            <a:pPr marL="152400" indent="-1524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 or outdated, and is there a single source of truth the team can access?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02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What Worked / What Didn't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Evidence base for FY27. FY26 headlines from 14 July EOY wrap.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What worked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Sam &amp; Sue brand-activation alignment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Defined-deliverable creator relationships (vs. 'empty' ones)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Google-weighted paid for retail moments (BFCM)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Shift: in-house designer → in-house ecommerce specialist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Pulled spend from shows → redirected to OEM support</a:t>
            </a:r>
          </a:p>
          <a:p>
            <a:pPr marL="177800" lvl="0" indent="-177800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US" sz="1000" dirty="0">
                <a:solidFill>
                  <a:srgbClr val="FFFFFF"/>
                </a:solidFill>
                <a:latin typeface="Geologica" pitchFamily="34" charset="0"/>
              </a:rPr>
              <a:t>SEO recovery: </a:t>
            </a:r>
            <a:r>
              <a:rPr lang="en-AU" sz="1000" dirty="0">
                <a:solidFill>
                  <a:srgbClr val="FFFFFF"/>
                </a:solidFill>
                <a:latin typeface="Geologica" pitchFamily="34" charset="0"/>
              </a:rPr>
              <a:t>visibility on the same 92-keyword set rose from ~2.3% pre-launch to 23.42% one month after the 10 June go-live — a 10.2x increase, with 39 keywords now in the top 10</a:t>
            </a:r>
          </a:p>
          <a:p>
            <a:pPr marL="177800" lvl="0" indent="-177800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AU" sz="1000" dirty="0">
                <a:solidFill>
                  <a:srgbClr val="FFFFFF"/>
                </a:solidFill>
                <a:latin typeface="Geologica" pitchFamily="34" charset="0"/>
              </a:rPr>
              <a:t>Email engine: triggered journeys were 3.2% of sends but generated 79.2% of email-attributed revenue; the Welcome 10% Off flow made $29,544 from 768 sends.</a:t>
            </a:r>
          </a:p>
          <a:p>
            <a:pPr marL="177800" lvl="0" indent="-177800">
              <a:spcAft>
                <a:spcPts val="400"/>
              </a:spcAft>
              <a:buSzPct val="100000"/>
              <a:buFontTx/>
              <a:buChar char="•"/>
              <a:defRPr/>
            </a:pPr>
            <a:r>
              <a:rPr lang="en-AU" sz="1000" dirty="0">
                <a:solidFill>
                  <a:srgbClr val="FFFFFF"/>
                </a:solidFill>
                <a:latin typeface="Geologica" pitchFamily="34" charset="0"/>
              </a:rPr>
              <a:t>New platform converted immediately: BigCommerce recorded $110.2K revenue, 340 orders and a $324 AOV in the first month.</a:t>
            </a:r>
            <a:endParaRPr lang="en-US" sz="1000" dirty="0">
              <a:solidFill>
                <a:srgbClr val="FFFFFF"/>
              </a:solidFill>
              <a:latin typeface="Geologica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370832" y="187452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599432" y="203911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What didn't land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599432" y="2441448"/>
            <a:ext cx="324612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Badly-timed creator deals with no hard, measurable metrics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Over-weighted Meta paid 'because we should’ - weaker ROI than Google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No meaningful way found to support OEMs / engage retail at shows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284464" y="1874520"/>
            <a:ext cx="3447288" cy="4206240"/>
          </a:xfrm>
          <a:prstGeom prst="roundRect">
            <a:avLst>
              <a:gd name="adj" fmla="val 2122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8513064" y="2039112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Honest gaps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13064" y="2441448"/>
            <a:ext cx="2990088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Roles &amp; responsibilities undefined - where one role ends, another begins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Team operating in silos; shared tools &amp; artefacts will fix this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Ecommerce review cadence dropped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5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03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Growth — Audience &amp; Content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Who we talk to, what we say, how often — positioning calibrated by a Q1 sentiment baseline, foundational, not assumed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Segments → tone (voice constant)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OEM / Manufacturers: efficient, partnership-led, technical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Dealers, Repairers &amp; Fitters: reliable, direct, trade-deep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Commercial: efficiency + bespoke partnership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Retail: warmer - life on the road, same plain confidence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45352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73952" y="2039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Pillars (brand × content) aligned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73952" y="244144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Reliability &amp; Trust  →  Heritage Evolving / family-owned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Product Innovation  →  NPD + range showcase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Lifestyle Enablement  →  retail, life on the road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Supply Consistency  →  trade dependability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11274552" cy="2057400"/>
          </a:xfrm>
          <a:prstGeom prst="roundRect">
            <a:avLst>
              <a:gd name="adj" fmla="val 355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18795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Cadence — consistency over volume (these are floors, not targets)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4590288"/>
            <a:ext cx="1081735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Trade EDM: always-on lifecycle journeys per segment (NN1)   ·   Organic social: 1-2 / week, LinkedIn mandatory (NN2)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Paid creative: refreshed fortnightly from the content bank (NN4)   ·   Product reviews: triggered on every purchase (NN3)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A floor is what we never miss in a bad week. Targets live above the floor; we report against both.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6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04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Growth — Operating Model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Roles, standards, workflow and accountability for a two-person team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Roles &amp; resourcing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Define where each role starts/ends - close FY26's biggest gap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Clear handoffs to ecommerce specialist &amp; sales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Designers shape brand/deliverables only (catalogue, templates)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45352" y="1874520"/>
            <a:ext cx="5486400" cy="1965960"/>
          </a:xfrm>
          <a:prstGeom prst="roundRect">
            <a:avLst>
              <a:gd name="adj" fmla="val 3721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73952" y="2039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Standards we hold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73952" y="2441448"/>
            <a:ext cx="5029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Paid: Google-weighted; Meta only where creative earns it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NPD launch SLA: a defined, repeatable marketing playbook per launch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Dotdigital automations as the engine behind comms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4187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Workflow (Notion = single source of truth)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85800" y="459028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Calendar, asset library and ad-hoc intake all live in Notion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Ad-hoc work: logged, capacity-allocated, scope-bounded - not absorbed silently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Shared artefacts kill the silo problem from FY26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45352" y="402336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73952" y="418795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Dependencies &amp; accountability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73952" y="4590288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Retail site (nce.com.au) is live; B2B trade portal is not yet live — a cross-functional dependency, </a:t>
            </a:r>
            <a:r>
              <a:rPr lang="en-US" sz="11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not</a:t>
            </a: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 a marketing non-negotiable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NN1 launches on an owned CTA now; swaps to portal sign-up at go-live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Measure outcomes not output (NN5): monthly report + quarterly competitor scan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7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05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Non-Negotiables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The five we hold no matter what — consistency over ambition. Floors, not aspirations.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19019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NN1 · Segment EDM Engine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4069080" y="185623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Floor: always-on lifecycle EDM per segment — welcome, re-engagement &amp; post-purchase journeys in Dotdigital (triggered + segmented, not broadcast). Owned CTA now → portal sign-up at launch; no segment goes dark. OEM stream is operational (reorder / supply), not a newsletter. Depends on list hygiene / deliverability monitoring.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74320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8620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NN2 · Always-On Social (LinkedIn-led)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069080" y="281635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Floor: 1-2 posts/week, LinkedIn mandatory weekly, mapped to pillars. B2B awareness &amp; acquisition funnel.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0" y="38221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NN3 · Review-Generation Engine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069080" y="377647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Floor: CS asks every eligible customer (logged) + auto product-review trigger per purchase. Staff rewarded on ask-rate, not review count - compliant by design. Closes the ~51-review gap; feeds search &amp; LLM.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85800" y="47823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NN4 · Content Production Supply Line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4069080" y="473659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Floor: monthly product/brand shoot + quarterly lifestyle (stills+video) plus UGC creators (Collabstr), briefed to NPD &amp; campaign calendar. Output-based &amp; supplier-agnostic. ~$76,400 ex GST/yr - feeds EDM, social, paid, NPD.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5623560"/>
            <a:ext cx="11274552" cy="868680"/>
          </a:xfrm>
          <a:prstGeom prst="roundRect">
            <a:avLst>
              <a:gd name="adj" fmla="val 6316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57424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NN5 · Measurement &amp; Competitor Discipline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069080" y="5696712"/>
            <a:ext cx="7452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Floor: monthly outcome report + quarterly competitor scan (3–5), one action each. Foundational: Q1 brand-sentiment baseline (Consumer/OEM/Trade) - run first, calibrates the year.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8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05 · RATIONALE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Why these five — the mapping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Each non-negotiable earns its place against a FY27 priority and a brand/content pillar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8267143"/>
              </p:ext>
            </p:extLst>
          </p:nvPr>
        </p:nvGraphicFramePr>
        <p:xfrm>
          <a:off x="457200" y="1920240"/>
          <a:ext cx="11274552" cy="340156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Serves FY27 priority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Pillar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Cadence floor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Cost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NN1 Segment EDM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All segments · D&amp;R growth · portal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Reliability &amp; Trust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Lifecycle / segment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Low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NN2 Social (LinkedIn)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B2B/commercial awareness funnel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Product Innovation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1-2 </a:t>
                      </a: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/ week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Low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NN3 Reviews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Search &amp; LLM discovery · credibility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Reliability &amp; Trust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Every purchase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Low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NN4 Content supply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NPD · paid · organic · EDM assets · UGC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Lifestyle · Innovation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Monthly + qtrly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$76.4k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NN5 Measure + competitor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Accountability · brand de-risking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Supply Consistency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Monthly + qtrly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Low</a:t>
                      </a:r>
                      <a:endParaRPr lang="en-US" sz="11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585216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1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Cost is a relative signal, not the budget line. NN4 (~$76,400 ex GST/yr) is the only material spend — 25.5% of the $300k budget; the other four are owned tools + time.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300" b="1">
                <a:solidFill>
                  <a:srgbClr val="D42027"/>
                </a:solidFill>
                <a:latin typeface="Lexend"/>
              </a:rPr>
              <a:t>05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58368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Lexend"/>
              </a:rPr>
              <a:t>The Non-Negotiables Across FY27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98448"/>
            <a:ext cx="112471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50" b="0" i="1">
                <a:solidFill>
                  <a:srgbClr val="9A9A9A"/>
                </a:solidFill>
                <a:latin typeface="Geologica"/>
              </a:rPr>
              <a:t>The EOY action plan on a timeline — how the five NNs roll out. Ecommerce engine standards run alongside (Kieren).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00" b="0">
                <a:solidFill>
                  <a:srgbClr val="9A9A9A"/>
                </a:solidFill>
                <a:latin typeface="Geologica"/>
              </a:rPr>
              <a:t>CONFIDENTIAL — INTERNAL USE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874519"/>
            <a:ext cx="3566160" cy="3977639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58368" y="2039112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D42027"/>
                </a:solidFill>
                <a:latin typeface="Lexend"/>
              </a:rPr>
              <a:t>0–90 DAYS</a:t>
            </a:r>
          </a:p>
          <a:p>
            <a:r>
              <a:rPr sz="1250" b="1">
                <a:solidFill>
                  <a:srgbClr val="FFFFFF"/>
                </a:solidFill>
                <a:latin typeface="Lexend"/>
              </a:rPr>
              <a:t>Structure the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743200"/>
            <a:ext cx="3163824" cy="2971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Rebuild welcome &amp; abandoned-cart journeys; audit attribution, soft bounces, mailbox blocks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NN1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Repeatable trade &amp; commercial campaign kit — page template, flyer, product info, ad formats, email sequence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NN4 · NN1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Q1 brand-sentiment baseline (Consumer / OEM / Trade), run first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NN5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BigCommerce integration &amp; attribution monitoring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1396" y="1874519"/>
            <a:ext cx="3566160" cy="3977639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2564" y="2039112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D42027"/>
                </a:solidFill>
                <a:latin typeface="Lexend"/>
              </a:rPr>
              <a:t>3–6 MONTHS</a:t>
            </a:r>
          </a:p>
          <a:p>
            <a:r>
              <a:rPr sz="1250" b="1">
                <a:solidFill>
                  <a:srgbClr val="FFFFFF"/>
                </a:solidFill>
                <a:latin typeface="Lexend"/>
              </a:rPr>
              <a:t>Test products &amp; creative faster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2564" y="2743200"/>
            <a:ext cx="3163824" cy="2971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Organic social at least weekly — launches, education, video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NN2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Add browse-abandonment &amp; post-purchase cross-sell journeys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NN1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Churn in-house Meta creative; deploy video library across channels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NN4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Targeted trade &amp; dealer/repairer campaigns — paid + segmented email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NN1 · NN2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65592" y="1874519"/>
            <a:ext cx="3566160" cy="3977639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66760" y="2039112"/>
            <a:ext cx="316382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D42027"/>
                </a:solidFill>
                <a:latin typeface="Lexend"/>
              </a:rPr>
              <a:t>6–12 MONTHS</a:t>
            </a:r>
          </a:p>
          <a:p>
            <a:r>
              <a:rPr sz="1250" b="1">
                <a:solidFill>
                  <a:srgbClr val="FFFFFF"/>
                </a:solidFill>
                <a:latin typeface="Lexend"/>
              </a:rPr>
              <a:t>Expand full-price range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163824" cy="29717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Scale trade / dealer / repairer / commercial acquisition on qualified enquiries &amp; order value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NN1 · NN2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Commercial packages — spec-led content, availability, account-support proof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NN4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Quarterly channel review — Scale / Maintain / Fix / Test / Stop, tied to profit &amp; stock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NN5</a:t>
            </a:r>
          </a:p>
          <a:p>
            <a:pPr>
              <a:spcAft>
                <a:spcPts val="600"/>
              </a:spcAft>
            </a:pPr>
            <a:r>
              <a:rPr sz="950" b="0">
                <a:solidFill>
                  <a:srgbClr val="9A9A9A"/>
                </a:solidFill>
                <a:latin typeface="Geologica"/>
              </a:rPr>
              <a:t>• </a:t>
            </a:r>
            <a:r>
              <a:rPr sz="950" b="0">
                <a:solidFill>
                  <a:srgbClr val="FFFFFF"/>
                </a:solidFill>
                <a:latin typeface="Geologica"/>
              </a:rPr>
              <a:t>Structured creative tests with quarterly learnings  </a:t>
            </a:r>
            <a:r>
              <a:rPr sz="950" b="1">
                <a:solidFill>
                  <a:srgbClr val="D42027"/>
                </a:solidFill>
                <a:latin typeface="Geologica"/>
              </a:rPr>
              <a:t>→ NN5 · 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943600"/>
            <a:ext cx="11274552" cy="384048"/>
          </a:xfrm>
          <a:prstGeom prst="roundRect">
            <a:avLst>
              <a:gd name="adj" fmla="val 12000"/>
            </a:avLst>
          </a:prstGeom>
          <a:solidFill>
            <a:srgbClr val="262626"/>
          </a:solidFill>
          <a:ln w="12700">
            <a:solidFill>
              <a:srgbClr val="2C2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" y="5971032"/>
            <a:ext cx="10881360" cy="508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r>
              <a:rPr sz="900" b="1">
                <a:solidFill>
                  <a:srgbClr val="D42027"/>
                </a:solidFill>
                <a:latin typeface="Geologica"/>
              </a:rPr>
              <a:t>Engine standards, alongside the NNs (Kieren): </a:t>
            </a:r>
            <a:r>
              <a:rPr sz="900" b="0">
                <a:solidFill>
                  <a:srgbClr val="9A9A9A"/>
                </a:solidFill>
                <a:latin typeface="Geologica"/>
              </a:rPr>
              <a:t>PMax labels &amp; margin ROAS · suppress zero-conversion long-tail · controlled launch test groups · checkout / cart recovery · redirect &amp; canonical clean-up.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A9A9A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Geologica" pitchFamily="34" charset="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>
              <a:defRPr/>
            </a:pPr>
            <a:r>
              <a:rPr lang="en-US" sz="1200" b="1" kern="0" spc="300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06 · WAYS OF WORKING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Roles &amp; Ownership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9A9A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Who owns, who executes, and how ad-hoc work is stopped from eating the non-negotiables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262626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58368" y="15910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Accountable = owns the outcome and holds the brand/strategy gate (Jenna).  Responsible = hands on keyboard (Kieren).  Decisions pushed down wherever work is executional — the gate is a rubric, not a person.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4761525"/>
              </p:ext>
            </p:extLst>
          </p:nvPr>
        </p:nvGraphicFramePr>
        <p:xfrm>
          <a:off x="457200" y="2148840"/>
          <a:ext cx="11274552" cy="27432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Non-negotiable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Accountable — owns + gate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Does the work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Key dependency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NN1 Segment EDM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Jenna — strategy, copy, CTA, voice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Kieren — Dotdigital build &amp; deploy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Dotdigital journeys + list hygiene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NN2 Social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LinkedIn: Jenna · IG/FB: Kieren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Jenna (LI, exec initially) · Kieren (IG/FB) · Jenna voice-gate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NN4 content bank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NN3 Reviews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Olga (CS lead) — the ask + program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Olga/CS ask · Kieren builds trigger · Jenna compliance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CS capacity (Olga)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NN4 Content supply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Jenna — briefs, art direction, gate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Kieren — booking, assets, Notion library, UGC creator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NetworkR / WUDU / </a:t>
                      </a:r>
                      <a:r>
                        <a:rPr lang="en-US" sz="900" dirty="0" err="1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Collabstr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NN5 Measurement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Jenna — the read, competitor, baseline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Kieren — compiles paid / web / ecom data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Research vendor (baseline)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029200"/>
            <a:ext cx="6766560" cy="1389888"/>
          </a:xfrm>
          <a:prstGeom prst="roundRect">
            <a:avLst>
              <a:gd name="adj" fmla="val 3947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658368" y="5166360"/>
            <a:ext cx="6364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Ad-hoc intake &amp; protection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5541264"/>
            <a:ext cx="6364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One intake, no exceptions — every request into a single Notion board (no DMs / hallway asks)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Floors first — ~70% of week protected for NNs + planned; ad-hoc lives in the ~30% buffer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Weekly triage (Mon): size &amp; assign together. 'Urgent' = revenue-blocking or exec/legal deadline only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Capacity-based no — 'the queue is full', not a personal refusal. Log everything = headcount evidence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434072" y="5029200"/>
            <a:ext cx="4297680" cy="1389888"/>
          </a:xfrm>
          <a:prstGeom prst="roundRect">
            <a:avLst>
              <a:gd name="adj" fmla="val 3947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Text 11"/>
          <p:cNvSpPr/>
          <p:nvPr/>
        </p:nvSpPr>
        <p:spPr>
          <a:xfrm>
            <a:off x="7635240" y="5166360"/>
            <a:ext cx="3895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Approval &amp; escalation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635240" y="5541264"/>
            <a:ext cx="3895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Jenna holds brand/strategy gate; Kieren approves executional work to rubric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In Jenna's absence: Kieren approves low-risk vs brand checklist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John = escalation-only for high-risk items that can't wait (rare) — NOT the default approver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100" dirty="0">
                <a:solidFill>
                  <a:srgbClr val="9A9A9A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11368735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A9A"/>
                </a:solidFill>
                <a:latin typeface="Geologica" pitchFamily="34" charset="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365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07 · CONTINUITY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Sustaining the NNs Through Leave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25296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A9A9A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Leave risk is asymmetric: Jenna's absence removes four gates; Kieren's removes batchable execution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72768"/>
            <a:ext cx="11274552" cy="566928"/>
          </a:xfrm>
          <a:prstGeom prst="roundRect">
            <a:avLst>
              <a:gd name="adj" fmla="val 8065"/>
            </a:avLst>
          </a:prstGeom>
          <a:solidFill>
            <a:srgbClr val="262626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Text 6"/>
          <p:cNvSpPr/>
          <p:nvPr/>
        </p:nvSpPr>
        <p:spPr>
          <a:xfrm>
            <a:off x="658368" y="1591056"/>
            <a:ext cx="10881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An NN that only survives because a named person is at their desk was never a non-negotiable.  Sustainability = automate the recurring, buffer ahead of known leave, and hold a defined leave-floor.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457200" y="2148840"/>
          <a:ext cx="11274552" cy="27432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21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Non-negotiable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Status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When Jenna is on leave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D42027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When Kieren is on leave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NN1 EDM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Automated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Runs unchanged; Kieren monitors deploys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Runs; Jenna monitors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NN2 Social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Weekly / human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Pre-scheduled buffer; Kieren publishes to rubric; reactive paused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Jenna covers LinkedIn; IG scheduled-only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NN3 Reviews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Olga + auto trigger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Unaffected — owned outside the team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Unaffected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NN4 Content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Monthly / qtrly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Shoots booked around leave dates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Jenna briefs; logistics deferred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NN5 Reporting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Templated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Kieren compiles; Jenna's read waits one cycle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Geologica" pitchFamily="34" charset="0"/>
                          <a:ea typeface="Geologica" pitchFamily="34" charset="-122"/>
                          <a:cs typeface="Geologica" pitchFamily="34" charset="-120"/>
                        </a:rPr>
                        <a:t>Jenna compiles from templates</a:t>
                      </a:r>
                      <a:endParaRPr lang="en-US" sz="900" dirty="0">
                        <a:latin typeface="Geologica" charset="0"/>
                        <a:ea typeface="Geologica" charset="0"/>
                        <a:cs typeface="Geologica" charset="0"/>
                      </a:endParaRPr>
                    </a:p>
                  </a:txBody>
                  <a:tcPr marL="64008" marR="64008" marT="64008" marB="64008" anchor="ctr">
                    <a:lnL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C2C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F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457200" y="5029200"/>
            <a:ext cx="6766560" cy="1389888"/>
          </a:xfrm>
          <a:prstGeom prst="roundRect">
            <a:avLst>
              <a:gd name="adj" fmla="val 3947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1" name="Text 8"/>
          <p:cNvSpPr/>
          <p:nvPr/>
        </p:nvSpPr>
        <p:spPr>
          <a:xfrm>
            <a:off x="658368" y="5166360"/>
            <a:ext cx="63642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Buffer &amp; leave-floor (agreed now, not in the panic before leave)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" y="5541264"/>
            <a:ext cx="636422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Buffer rule: content queue always filled 2–3 weeks ahead → any absence is invisible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Pre-approve: batch-gate social/EDM before leave so the running queue was approved before departure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Leave-floor: automated EDM continues · social scheduled-only · reviews continue (Olga) · reporting pauses one cycle</a:t>
            </a:r>
            <a:endParaRPr lang="en-US" sz="950" dirty="0"/>
          </a:p>
          <a:p>
            <a:pPr marL="152400" indent="-152400">
              <a:lnSpc>
                <a:spcPct val="98000"/>
              </a:lnSpc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Geologica" pitchFamily="34" charset="0"/>
                <a:ea typeface="Geologica" pitchFamily="34" charset="-122"/>
                <a:cs typeface="Geologica" pitchFamily="34" charset="-120"/>
              </a:rPr>
              <a:t>LinkedIn handover-by date: once format is proven, Kieren takes publishing; Jenna keeps voice-gate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9A9A9A"/>
                </a:solidFill>
                <a:latin typeface="Geologica" pitchFamily="34" charset="0"/>
              </a:rPr>
              <a:t>11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08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Phase 2 / Over-and-Above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Not a 'no' — a 'not yet'. Revisit once the five run consistently, or budget opens up.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11274552" cy="1828800"/>
          </a:xfrm>
          <a:prstGeom prst="roundRect">
            <a:avLst>
              <a:gd name="adj" fmla="val 4000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Parked — good ideas, deliberately not now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108173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Commercial website (dedicated B2B/commercial site)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Scaled Meta paid — revisit only once creative quality is fixed (FY26 lesson)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Trade/retail show ROI — a tested, OEM-supporting format before any spend returns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3886200"/>
            <a:ext cx="11274552" cy="2194560"/>
          </a:xfrm>
          <a:prstGeom prst="roundRect">
            <a:avLst>
              <a:gd name="adj" fmla="val 3333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4050792"/>
            <a:ext cx="10817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Watch-list / dependencies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0" y="4453128"/>
            <a:ext cx="108173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Deeper research waves — sized once the foundational Q1 baseline shows where to dig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Search/AI discovery hardening (structured data, GEO) — partly delivered by NN2 + NN3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Category expansion (e.g. dropship accessories/bedding) — evaluate against 'RV specialist' equity before committing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10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CONFIDENTIAL — INTERNAL USE ONLY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11368735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12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1" i="0" u="none" strike="noStrike" kern="0" cap="none" spc="30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0</a:t>
            </a:r>
            <a:r>
              <a:rPr lang="en-US" sz="1300" b="1" kern="0" spc="300" dirty="0">
                <a:solidFill>
                  <a:srgbClr val="D42027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9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FY27 Budget Framing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srgbClr val="9A9A9A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Translating commitments into spend</a:t>
            </a:r>
            <a:endParaRPr kumimoji="0" lang="en-US" sz="1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187452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0" y="2039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Funded first — baseline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0" y="2441448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The five funded as baseline, before anything discretionary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Foundational: Q1 sentiment baseline funded ahead of discretionary spend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NN4 content supply: ~$76,400 ex GST/yr (locked with content vendors)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NN1 / NN2 / NN3 / NN5: low-cost - owned tools, time, modest reviews admin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FY27 reference: $300k total marketing budget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6245352" y="1874520"/>
            <a:ext cx="5486400" cy="3657600"/>
          </a:xfrm>
          <a:prstGeom prst="roundRect">
            <a:avLst>
              <a:gd name="adj" fmla="val 2000"/>
            </a:avLst>
          </a:prstGeom>
          <a:solidFill>
            <a:srgbClr val="1F1F1F"/>
          </a:solidFill>
          <a:ln w="12700">
            <a:solidFill>
              <a:srgbClr val="2C2C2C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473952" y="203911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D42027"/>
                </a:solidFill>
                <a:effectLst/>
                <a:uLnTx/>
                <a:uFillTx/>
                <a:latin typeface="Lexend" pitchFamily="34" charset="0"/>
                <a:ea typeface="Lexend" pitchFamily="34" charset="-122"/>
                <a:cs typeface="Lexend" pitchFamily="34" charset="-120"/>
              </a:rPr>
              <a:t>Sensitivity &amp; next step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473952" y="2441448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NN4 = 25.5% of budget at $300k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Pin the FY27 budget before locking retainers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If FY27 &lt; $300k: protect foundational baseline + NN4 output; flex targets above the floors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Phase 2 costed as stretch - actioned only if budget allows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Pct val="100000"/>
              <a:buFontTx/>
              <a:buChar char="•"/>
              <a:tabLst/>
              <a:defRPr/>
            </a:pPr>
            <a:r>
              <a:rPr kumimoji="0" lang="en-US" sz="11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eologica" pitchFamily="34" charset="0"/>
                <a:ea typeface="Geologica" pitchFamily="34" charset="-122"/>
                <a:cs typeface="Geologica" pitchFamily="34" charset="-120"/>
              </a:rPr>
              <a:t>Next: confirm the five → translate into FY27 budget submission</a:t>
            </a:r>
            <a:endParaRPr kumimoji="0" lang="en-US" sz="11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y27/logo_white_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328" y="2011680"/>
            <a:ext cx="14630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333756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i="1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Level up.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10048" y="4069080"/>
            <a:ext cx="1371600" cy="0"/>
          </a:xfrm>
          <a:prstGeom prst="line">
            <a:avLst/>
          </a:prstGeom>
          <a:noFill/>
          <a:ln w="19050">
            <a:solidFill>
              <a:srgbClr val="D42027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Text 2"/>
          <p:cNvSpPr/>
          <p:nvPr/>
        </p:nvSpPr>
        <p:spPr>
          <a:xfrm>
            <a:off x="0" y="42519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nce.com.au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0" y="6400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— INTERNAL USE ONLY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A334EA54597E14BB92B84CA22AD11B6" ma:contentTypeVersion="15" ma:contentTypeDescription="Create a new document." ma:contentTypeScope="" ma:versionID="3e87b008023c08eeb089460c59497af9">
  <xsd:schema xmlns:xsd="http://www.w3.org/2001/XMLSchema" xmlns:xs="http://www.w3.org/2001/XMLSchema" xmlns:p="http://schemas.microsoft.com/office/2006/metadata/properties" xmlns:ns2="68eb0464-abc1-4923-bdd7-72c5cb95ab97" xmlns:ns3="76d6ef88-d5e7-4e22-90e4-bde4b2cc6987" targetNamespace="http://schemas.microsoft.com/office/2006/metadata/properties" ma:root="true" ma:fieldsID="064de60630ef69013fd132341759eb2f" ns2:_="" ns3:_="">
    <xsd:import namespace="68eb0464-abc1-4923-bdd7-72c5cb95ab97"/>
    <xsd:import namespace="76d6ef88-d5e7-4e22-90e4-bde4b2cc698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eb0464-abc1-4923-bdd7-72c5cb95ab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60a426fc-a949-4bd8-970a-edc7af518fc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6d6ef88-d5e7-4e22-90e4-bde4b2cc6987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6d182a4c-7670-4939-93c4-cc5cc4fd1636}" ma:internalName="TaxCatchAll" ma:showField="CatchAllData" ma:web="76d6ef88-d5e7-4e22-90e4-bde4b2cc698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76d6ef88-d5e7-4e22-90e4-bde4b2cc6987" xsi:nil="true"/>
    <lcf76f155ced4ddcb4097134ff3c332f xmlns="68eb0464-abc1-4923-bdd7-72c5cb95ab97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0774A71-1918-41D3-95DB-B24C6095CB06}"/>
</file>

<file path=customXml/itemProps2.xml><?xml version="1.0" encoding="utf-8"?>
<ds:datastoreItem xmlns:ds="http://schemas.openxmlformats.org/officeDocument/2006/customXml" ds:itemID="{AD67A1FE-E8BE-4A82-B084-F337600D7CAB}"/>
</file>

<file path=customXml/itemProps3.xml><?xml version="1.0" encoding="utf-8"?>
<ds:datastoreItem xmlns:ds="http://schemas.openxmlformats.org/officeDocument/2006/customXml" ds:itemID="{89D36D30-9015-4C40-8C7C-CEF369569CB0}"/>
</file>

<file path=docProps/app.xml><?xml version="1.0" encoding="utf-8"?>
<Properties xmlns="http://schemas.openxmlformats.org/officeDocument/2006/extended-properties" xmlns:vt="http://schemas.openxmlformats.org/officeDocument/2006/docPropsVTypes">
  <TotalTime>4019</TotalTime>
  <Words>2446</Words>
  <Application>Microsoft Office PowerPoint</Application>
  <PresentationFormat>Widescreen</PresentationFormat>
  <Paragraphs>309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Geologica</vt:lpstr>
      <vt:lpstr>Lexend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FY27 Marketing Strategy Session</dc:title>
  <dc:subject>PptxGenJS Presentation</dc:subject>
  <dc:creator>NCE</dc:creator>
  <cp:lastModifiedBy>Jenna Hall</cp:lastModifiedBy>
  <cp:revision>10</cp:revision>
  <dcterms:created xsi:type="dcterms:W3CDTF">2026-06-14T04:53:20Z</dcterms:created>
  <dcterms:modified xsi:type="dcterms:W3CDTF">2026-07-16T12:42:20Z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0x0101005A334EA54597E14BB92B84CA22AD11B6</vt:lpwstr>
  </property>
  <property fmtid="{D5CDD505-2E9C-101B-9397-08002B2CF9AE}" pid="3" name="MediaServiceImageTags">
    <vt:lpwstr/>
  </property>
</Properties>
</file>